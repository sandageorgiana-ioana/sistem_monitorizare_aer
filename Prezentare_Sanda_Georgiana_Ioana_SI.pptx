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2" r:id="rId6"/>
    <p:sldId id="263" r:id="rId7"/>
    <p:sldId id="269" r:id="rId8"/>
    <p:sldId id="264" r:id="rId9"/>
    <p:sldId id="265" r:id="rId10"/>
    <p:sldId id="266" r:id="rId11"/>
    <p:sldId id="270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A0"/>
    <a:srgbClr val="288ABA"/>
    <a:srgbClr val="771D82"/>
    <a:srgbClr val="131D82"/>
    <a:srgbClr val="8CBE42"/>
    <a:srgbClr val="AA0533"/>
    <a:srgbClr val="4C23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195" autoAdjust="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1599B-A466-475B-BB47-4B3AAE5153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D3918-8856-4C59-9459-C79E35D8B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4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0423-731E-484F-A9C5-5D9DD1BF66C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EDE6C-C3C1-4C5F-9E1F-AE6D1A1E324C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0E618-99C8-4FD0-8E76-BBE0C3D64D7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F93D-B034-4298-9699-FB550E500A81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601B9-4360-4136-89D7-81FDDA1C39DF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E204-145B-4E59-99FA-38B4037BFB86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48B8B-51C4-4C42-AE31-B99DCF6BA5D6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C9988-C9C4-444C-8142-E8CDF5A6D92F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3BB1-53AA-4F51-9CA6-8598D4DEB309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88932-A1B5-4315-8B1A-B1790351A6CF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4788-66DC-4E15-B49C-780A20494E2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9CBA4-8E03-4A0D-B0B5-C9A2A5A70E83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013176"/>
            <a:ext cx="3312368" cy="127089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064388" y="5857924"/>
            <a:ext cx="216000" cy="216000"/>
            <a:chOff x="2772000" y="1932221"/>
            <a:chExt cx="2340000" cy="2340000"/>
          </a:xfrm>
        </p:grpSpPr>
        <p:sp>
          <p:nvSpPr>
            <p:cNvPr id="9" name="Rectangle 8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24228" y="5857924"/>
            <a:ext cx="216000" cy="216000"/>
            <a:chOff x="2772000" y="1932221"/>
            <a:chExt cx="2340000" cy="2340000"/>
          </a:xfrm>
        </p:grpSpPr>
        <p:sp>
          <p:nvSpPr>
            <p:cNvPr id="15" name="Rectangle 1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8064388" y="4417764"/>
            <a:ext cx="216000" cy="2160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35834" y="4489210"/>
            <a:ext cx="73108" cy="73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184068" y="5857924"/>
            <a:ext cx="216000" cy="216000"/>
            <a:chOff x="2772000" y="1932221"/>
            <a:chExt cx="2340000" cy="2340000"/>
          </a:xfrm>
        </p:grpSpPr>
        <p:sp>
          <p:nvSpPr>
            <p:cNvPr id="18" name="Rectangle 17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624228" y="4417764"/>
            <a:ext cx="216000" cy="216000"/>
            <a:chOff x="2772000" y="1932221"/>
            <a:chExt cx="2340000" cy="2340000"/>
          </a:xfrm>
        </p:grpSpPr>
        <p:sp>
          <p:nvSpPr>
            <p:cNvPr id="24" name="Rectangle 23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064388" y="2977604"/>
            <a:ext cx="216000" cy="216000"/>
            <a:chOff x="2772000" y="1932221"/>
            <a:chExt cx="2340000" cy="2340000"/>
          </a:xfrm>
        </p:grpSpPr>
        <p:sp>
          <p:nvSpPr>
            <p:cNvPr id="27" name="Rectangle 26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CD72C18-3B0F-3DD0-79D4-360B404ED218}"/>
              </a:ext>
            </a:extLst>
          </p:cNvPr>
          <p:cNvSpPr txBox="1"/>
          <p:nvPr/>
        </p:nvSpPr>
        <p:spPr>
          <a:xfrm>
            <a:off x="1079612" y="1509448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Sistem de monitorizare a aerului 					ambiental</a:t>
            </a:r>
            <a:endParaRPr lang="ro-RO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7F756-C6B3-964B-49E9-16284475D250}"/>
              </a:ext>
            </a:extLst>
          </p:cNvPr>
          <p:cNvSpPr txBox="1"/>
          <p:nvPr/>
        </p:nvSpPr>
        <p:spPr>
          <a:xfrm>
            <a:off x="555273" y="3582017"/>
            <a:ext cx="5905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latin typeface="UT Sans Bold" pitchFamily="50" charset="0"/>
              </a:rPr>
              <a:t>Student: </a:t>
            </a:r>
            <a:r>
              <a:rPr lang="en-US" sz="2400" dirty="0">
                <a:latin typeface="UT Sans Bold" pitchFamily="50" charset="0"/>
              </a:rPr>
              <a:t>Sanda Georgiana-Ioana</a:t>
            </a:r>
          </a:p>
          <a:p>
            <a:r>
              <a:rPr lang="en-US" sz="2400" dirty="0" err="1">
                <a:latin typeface="UT Sans Bold" pitchFamily="50" charset="0"/>
              </a:rPr>
              <a:t>Coordonator</a:t>
            </a:r>
            <a:r>
              <a:rPr lang="en-US" sz="2400" dirty="0">
                <a:latin typeface="UT Sans Bold" pitchFamily="50" charset="0"/>
              </a:rPr>
              <a:t>: Ing. PAL Attila</a:t>
            </a:r>
            <a:endParaRPr lang="en-US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14903-B10D-A026-45D4-657C3B78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1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432A1D-87FC-6425-EE04-277922B44F25}"/>
              </a:ext>
            </a:extLst>
          </p:cNvPr>
          <p:cNvSpPr txBox="1"/>
          <p:nvPr/>
        </p:nvSpPr>
        <p:spPr>
          <a:xfrm>
            <a:off x="503560" y="1828558"/>
            <a:ext cx="80648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o-RO" sz="2000" dirty="0">
              <a:latin typeface="UT Symbols" charset="0"/>
              <a:ea typeface="UT Symbols" charset="0"/>
              <a:cs typeface="UT Symbols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sz="2000" dirty="0"/>
              <a:t>Proiectul „Sistem de monitorizare a aerului ambiental” are ca scop măsurarea și afișareaparametrilor esențiali ai calității aerului dintr-un spațiu interior, prin utilizarea unei plăci dedezvoltare STM32 și a mai multor senzori specific</a:t>
            </a:r>
            <a:r>
              <a:rPr lang="en-US" sz="2000" dirty="0" err="1"/>
              <a:t>i</a:t>
            </a:r>
            <a:r>
              <a:rPr lang="en-US" sz="2000" dirty="0"/>
              <a:t>.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en-US" sz="2000" dirty="0"/>
              <a:t>. </a:t>
            </a:r>
            <a:r>
              <a:rPr lang="en-US" sz="2000" dirty="0" err="1"/>
              <a:t>Sistemul</a:t>
            </a:r>
            <a:r>
              <a:rPr lang="en-US" sz="2000" dirty="0"/>
              <a:t> </a:t>
            </a:r>
            <a:r>
              <a:rPr lang="en-US" sz="2000" dirty="0" err="1"/>
              <a:t>colectează</a:t>
            </a:r>
            <a:r>
              <a:rPr lang="en-US" sz="2000" dirty="0"/>
              <a:t> date </a:t>
            </a:r>
            <a:r>
              <a:rPr lang="en-US" sz="2000" dirty="0" err="1"/>
              <a:t>despre</a:t>
            </a:r>
            <a:r>
              <a:rPr lang="en-US" sz="2000" dirty="0"/>
              <a:t> </a:t>
            </a:r>
            <a:r>
              <a:rPr lang="en-US" sz="2000" dirty="0" err="1"/>
              <a:t>tem-peratură</a:t>
            </a:r>
            <a:r>
              <a:rPr lang="en-US" sz="2000" dirty="0"/>
              <a:t>, </a:t>
            </a:r>
            <a:r>
              <a:rPr lang="en-US" sz="2000" dirty="0" err="1"/>
              <a:t>presiune</a:t>
            </a:r>
            <a:r>
              <a:rPr lang="en-US" sz="2000" dirty="0"/>
              <a:t> </a:t>
            </a:r>
            <a:r>
              <a:rPr lang="en-US" sz="2000" dirty="0" err="1"/>
              <a:t>atmosferică</a:t>
            </a:r>
            <a:r>
              <a:rPr lang="en-US" sz="2000" dirty="0"/>
              <a:t>, </a:t>
            </a:r>
            <a:r>
              <a:rPr lang="en-US" sz="2000" dirty="0" err="1"/>
              <a:t>concentrația</a:t>
            </a:r>
            <a:r>
              <a:rPr lang="en-US" sz="2000" dirty="0"/>
              <a:t> </a:t>
            </a:r>
            <a:r>
              <a:rPr lang="en-US" sz="2000" dirty="0" err="1"/>
              <a:t>particulelor</a:t>
            </a:r>
            <a:r>
              <a:rPr lang="en-US" sz="2000" dirty="0"/>
              <a:t> de </a:t>
            </a:r>
            <a:r>
              <a:rPr lang="en-US" sz="2000" dirty="0" err="1"/>
              <a:t>praf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nivelul</a:t>
            </a:r>
            <a:r>
              <a:rPr lang="en-US" sz="2000" dirty="0"/>
              <a:t> </a:t>
            </a:r>
            <a:r>
              <a:rPr lang="en-US" sz="2000" dirty="0" err="1"/>
              <a:t>diferitelor</a:t>
            </a:r>
            <a:r>
              <a:rPr lang="en-US" sz="2000" dirty="0"/>
              <a:t> </a:t>
            </a:r>
            <a:r>
              <a:rPr lang="en-US" sz="2000" dirty="0" err="1"/>
              <a:t>gazepoluante</a:t>
            </a:r>
            <a:r>
              <a:rPr lang="en-US" sz="2000" dirty="0"/>
              <a:t> (NH3, NOx, </a:t>
            </a:r>
            <a:r>
              <a:rPr lang="en-US" sz="2000" dirty="0" err="1"/>
              <a:t>alcool</a:t>
            </a:r>
            <a:r>
              <a:rPr lang="en-US" sz="2000" dirty="0"/>
              <a:t>, </a:t>
            </a:r>
            <a:r>
              <a:rPr lang="en-US" sz="2000" dirty="0" err="1"/>
              <a:t>benzen</a:t>
            </a:r>
            <a:r>
              <a:rPr lang="en-US" sz="2000" dirty="0"/>
              <a:t>, </a:t>
            </a:r>
            <a:r>
              <a:rPr lang="en-US" sz="2000" dirty="0" err="1"/>
              <a:t>fum</a:t>
            </a:r>
            <a:r>
              <a:rPr lang="en-US" sz="2000" dirty="0"/>
              <a:t>, CO2) </a:t>
            </a:r>
            <a:r>
              <a:rPr lang="en-US" sz="2000" dirty="0" err="1"/>
              <a:t>și</a:t>
            </a:r>
            <a:r>
              <a:rPr lang="en-US" sz="2000" dirty="0"/>
              <a:t> le </a:t>
            </a:r>
            <a:r>
              <a:rPr lang="en-US" sz="2000" dirty="0" err="1"/>
              <a:t>afișează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timp</a:t>
            </a:r>
            <a:r>
              <a:rPr lang="en-US" sz="2000" dirty="0"/>
              <a:t> real pe un display LCD16x2 cu </a:t>
            </a:r>
            <a:r>
              <a:rPr lang="en-US" sz="2000" dirty="0" err="1"/>
              <a:t>interfață</a:t>
            </a:r>
            <a:r>
              <a:rPr lang="en-US" sz="2000" dirty="0"/>
              <a:t> I2C.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C0E99-ECD1-2026-39F7-78E0AD73B5C3}"/>
              </a:ext>
            </a:extLst>
          </p:cNvPr>
          <p:cNvSpPr txBox="1"/>
          <p:nvPr/>
        </p:nvSpPr>
        <p:spPr>
          <a:xfrm>
            <a:off x="611560" y="1124744"/>
            <a:ext cx="75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UT Sans" panose="00000500000000000000" pitchFamily="2" charset="0"/>
              </a:rPr>
              <a:t>Tema</a:t>
            </a:r>
            <a:r>
              <a:rPr lang="en-US" sz="3200" dirty="0">
                <a:latin typeface="UT Sans" panose="00000500000000000000" pitchFamily="2" charset="0"/>
              </a:rPr>
              <a:t> </a:t>
            </a:r>
            <a:r>
              <a:rPr lang="en-US" sz="3200" dirty="0" err="1">
                <a:latin typeface="UT Sans" panose="00000500000000000000" pitchFamily="2" charset="0"/>
              </a:rPr>
              <a:t>proiectului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D5478FA-7D77-5039-B17E-BEDFCA95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9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03571"/>
            <a:ext cx="1944216" cy="5310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92C7329-4BEE-5380-3703-BCCA23AC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09E675-DBB6-410F-BA7E-18221484D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124744"/>
            <a:ext cx="6552728" cy="45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0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A68A5B-B9BE-E95A-13B8-99D76040D3EF}"/>
              </a:ext>
            </a:extLst>
          </p:cNvPr>
          <p:cNvSpPr txBox="1"/>
          <p:nvPr/>
        </p:nvSpPr>
        <p:spPr>
          <a:xfrm>
            <a:off x="484518" y="1780965"/>
            <a:ext cx="80648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o-RO" sz="2000" dirty="0">
              <a:latin typeface="UT Symbols" charset="0"/>
              <a:ea typeface="UT Symbols" charset="0"/>
              <a:cs typeface="UT Symbols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sz="2000" dirty="0">
                <a:latin typeface="UT Sans" pitchFamily="50" charset="0"/>
              </a:rPr>
              <a:t>Monitorizarea calității aerului reprezintă un aspect esențial pentru sănătatea umană,având un impact direct asupra confortului, productivității și stării generale de bine.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ro-RO" sz="2000" dirty="0">
                <a:latin typeface="UT Sans" pitchFamily="50" charset="0"/>
              </a:rPr>
              <a:t>Creșterea nivelului de poluare în spațiile interioare, cauzată de activități cotidiene, mate-riale de construcție sau ventilare insuficientă, justifică dezvoltarea unor sisteme accesibile șieficiente pentru evaluarea calității aerului.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ro-RO" sz="2000" dirty="0">
                <a:latin typeface="UT Sans" pitchFamily="50" charset="0"/>
              </a:rPr>
              <a:t>Implementarea unor soluții de monitorizare, pre-cum sistemul propus în acest proiect, permite identificarea rapidă a condițiilor nefavorabile.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2D9A8-3A3D-2F28-BC95-38C48F3CAA3A}"/>
              </a:ext>
            </a:extLst>
          </p:cNvPr>
          <p:cNvSpPr txBox="1"/>
          <p:nvPr/>
        </p:nvSpPr>
        <p:spPr>
          <a:xfrm>
            <a:off x="611560" y="1124744"/>
            <a:ext cx="75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UT Sans" panose="00000500000000000000" pitchFamily="2" charset="0"/>
              </a:rPr>
              <a:t>Importan</a:t>
            </a:r>
            <a:r>
              <a:rPr lang="ro-RO" sz="3200" dirty="0">
                <a:latin typeface="UT Sans" panose="00000500000000000000" pitchFamily="2" charset="0"/>
              </a:rPr>
              <a:t>ța proiectului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41B304-A9C3-E149-9FFE-2BD4A5AA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6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4327EA-C4A3-AD6F-366B-C24037E86D3B}"/>
              </a:ext>
            </a:extLst>
          </p:cNvPr>
          <p:cNvSpPr txBox="1"/>
          <p:nvPr/>
        </p:nvSpPr>
        <p:spPr>
          <a:xfrm>
            <a:off x="611560" y="1124744"/>
            <a:ext cx="75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latin typeface="UT Sans" panose="00000500000000000000" pitchFamily="2" charset="0"/>
              </a:rPr>
              <a:t>Platforma aleasă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F4E30-6CE4-A5AD-5644-D10F016F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9CD77-61CF-4D27-A811-9B1DF8CC2700}"/>
              </a:ext>
            </a:extLst>
          </p:cNvPr>
          <p:cNvSpPr txBox="1"/>
          <p:nvPr/>
        </p:nvSpPr>
        <p:spPr>
          <a:xfrm>
            <a:off x="573782" y="1611082"/>
            <a:ext cx="79037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o-RO" sz="2000" dirty="0">
              <a:latin typeface="UT Symbols" charset="0"/>
              <a:ea typeface="UT Symbols" charset="0"/>
              <a:cs typeface="UT Symbols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sz="2000" dirty="0"/>
              <a:t>Pentru implementarea sistemului de monitorizare a calității aerului a fost aleasă placa dedezvoltare STM32 NUCLEO-G0B1RE, bazată pe microcontrolerul STM32G0B1RE.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05E86-D711-4B53-B677-EE47352D2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543" y="3437768"/>
            <a:ext cx="3534268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1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1C6B6D-84BE-469D-9DB5-73053FDA129B}"/>
              </a:ext>
            </a:extLst>
          </p:cNvPr>
          <p:cNvSpPr txBox="1"/>
          <p:nvPr/>
        </p:nvSpPr>
        <p:spPr>
          <a:xfrm>
            <a:off x="345486" y="1328554"/>
            <a:ext cx="81149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o-RO" sz="2000" dirty="0">
              <a:latin typeface="UT Symbols" charset="0"/>
              <a:ea typeface="UT Symbols" charset="0"/>
              <a:cs typeface="UT Symbols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sz="2000" b="1" dirty="0">
                <a:latin typeface="UT Sans" pitchFamily="50" charset="0"/>
              </a:rPr>
              <a:t>Senzorul BMP280</a:t>
            </a:r>
            <a:r>
              <a:rPr lang="ro-RO" sz="2000" dirty="0">
                <a:latin typeface="UT Sans" pitchFamily="50" charset="0"/>
              </a:rPr>
              <a:t>-p</a:t>
            </a:r>
            <a:r>
              <a:rPr lang="it-IT" sz="2000" dirty="0">
                <a:latin typeface="UT Sans" pitchFamily="50" charset="0"/>
              </a:rPr>
              <a:t>entru măsurarea temperaturii și a presiunii atmosferice</a:t>
            </a:r>
            <a:endParaRPr lang="ro-RO" sz="2000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b="1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sz="2000" b="1" dirty="0">
                <a:latin typeface="UT Sans" pitchFamily="50" charset="0"/>
              </a:rPr>
              <a:t>Senzorul DSM501A</a:t>
            </a:r>
            <a:r>
              <a:rPr lang="ro-RO" sz="2000" dirty="0">
                <a:latin typeface="UT Sans" pitchFamily="50" charset="0"/>
              </a:rPr>
              <a:t>-pentru măsurarea concentrației particulelor de praf din aer.</a:t>
            </a: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dirty="0">
              <a:latin typeface="UT Sans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5423AE-CAE6-06C0-F73E-FFFDEAA3A2D6}"/>
              </a:ext>
            </a:extLst>
          </p:cNvPr>
          <p:cNvSpPr txBox="1"/>
          <p:nvPr/>
        </p:nvSpPr>
        <p:spPr>
          <a:xfrm>
            <a:off x="611560" y="1124744"/>
            <a:ext cx="75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latin typeface="UT Sans" panose="00000500000000000000" pitchFamily="2" charset="0"/>
              </a:rPr>
              <a:t>Senzori folosiți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561CE4-3874-663A-4567-75C03D95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4541DF-8F28-421B-A4E1-174657AFC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103" y="2276872"/>
            <a:ext cx="2819794" cy="16864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210838-1CB1-48E3-80EC-ED1F573F0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871" y="4805382"/>
            <a:ext cx="2440182" cy="203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8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1C6B6D-84BE-469D-9DB5-73053FDA129B}"/>
              </a:ext>
            </a:extLst>
          </p:cNvPr>
          <p:cNvSpPr txBox="1"/>
          <p:nvPr/>
        </p:nvSpPr>
        <p:spPr>
          <a:xfrm>
            <a:off x="309763" y="1124744"/>
            <a:ext cx="811494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o-RO" sz="2000" dirty="0">
              <a:latin typeface="UT Symbols" charset="0"/>
              <a:ea typeface="UT Symbols" charset="0"/>
              <a:cs typeface="UT Symbols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sz="2000" b="1" dirty="0">
                <a:latin typeface="UT Sans" pitchFamily="50" charset="0"/>
              </a:rPr>
              <a:t>Senzorul de gaze MQ-135-</a:t>
            </a:r>
            <a:r>
              <a:rPr lang="ro-RO" sz="2000" dirty="0">
                <a:latin typeface="UT Sans" pitchFamily="50" charset="0"/>
              </a:rPr>
              <a:t>pentru detectarea gazelor poluante și evaluarea calității aerului</a:t>
            </a:r>
            <a:r>
              <a:rPr lang="ro-RO" sz="2000" b="1" dirty="0">
                <a:latin typeface="UT Sans" pitchFamily="50" charset="0"/>
              </a:rPr>
              <a:t>.</a:t>
            </a:r>
          </a:p>
          <a:p>
            <a:pPr marL="342900" indent="-342900" algn="just">
              <a:buBlip>
                <a:blip r:embed="rId3"/>
              </a:buBlip>
            </a:pPr>
            <a:endParaRPr lang="ro-RO" sz="2000" b="1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b="1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b="1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b="1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sz="2000" b="1" dirty="0">
                <a:latin typeface="UT Sans" pitchFamily="50" charset="0"/>
              </a:rPr>
              <a:t>LCD 16X2 (I2C)-</a:t>
            </a:r>
            <a:r>
              <a:rPr lang="ro-RO" sz="2000" dirty="0">
                <a:latin typeface="UT Sans" pitchFamily="50" charset="0"/>
              </a:rPr>
              <a:t>Pentru afișarea informațiilor rezultate în urma măsurării și prelucrării datelor</a:t>
            </a:r>
          </a:p>
          <a:p>
            <a:pPr marL="342900" indent="-342900" algn="just">
              <a:buBlip>
                <a:blip r:embed="rId3"/>
              </a:buBlip>
            </a:pPr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b="1" dirty="0">
              <a:latin typeface="UT Sans" pitchFamily="50" charset="0"/>
            </a:endParaRPr>
          </a:p>
          <a:p>
            <a:pPr algn="just"/>
            <a:endParaRPr lang="ro-RO" sz="2000" dirty="0">
              <a:latin typeface="UT Sans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5423AE-CAE6-06C0-F73E-FFFDEAA3A2D6}"/>
              </a:ext>
            </a:extLst>
          </p:cNvPr>
          <p:cNvSpPr txBox="1"/>
          <p:nvPr/>
        </p:nvSpPr>
        <p:spPr>
          <a:xfrm>
            <a:off x="611560" y="1124744"/>
            <a:ext cx="75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latin typeface="UT Sans" panose="00000500000000000000" pitchFamily="2" charset="0"/>
              </a:rPr>
              <a:t>Senzori folosiți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561CE4-3874-663A-4567-75C03D955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70F045-62F5-42E5-848F-AB67BA30B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919" y="2354756"/>
            <a:ext cx="3134162" cy="18939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2F7D54-F833-4454-A3AC-BA000E178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9708" y="4618675"/>
            <a:ext cx="3029373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05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8A8BC7-F1B1-1D7E-451C-548F387E82A3}"/>
              </a:ext>
            </a:extLst>
          </p:cNvPr>
          <p:cNvSpPr txBox="1"/>
          <p:nvPr/>
        </p:nvSpPr>
        <p:spPr>
          <a:xfrm>
            <a:off x="305307" y="1592796"/>
            <a:ext cx="82996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o-RO" sz="2000" dirty="0">
              <a:latin typeface="UT Symbols" charset="0"/>
              <a:ea typeface="UT Symbols" charset="0"/>
              <a:cs typeface="UT Symbols" charset="0"/>
            </a:endParaRPr>
          </a:p>
          <a:p>
            <a:pPr marL="800100" lvl="1" indent="-342900" algn="just">
              <a:buBlip>
                <a:blip r:embed="rId3"/>
              </a:buBlip>
            </a:pPr>
            <a:r>
              <a:rPr lang="ro-RO" sz="2000" dirty="0">
                <a:latin typeface="UT Sans" pitchFamily="50" charset="0"/>
              </a:rPr>
              <a:t>Schema electrică a sistemului prezintă interconectarea componentelor hardware uti-lizate în proiect</a:t>
            </a:r>
          </a:p>
          <a:p>
            <a:pPr marL="342900" indent="-342900" algn="just">
              <a:buBlip>
                <a:blip r:embed="rId3"/>
              </a:buBlip>
            </a:pPr>
            <a:endParaRPr lang="ro-RO" sz="2000" dirty="0">
              <a:latin typeface="UT Sans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D05FD4-5A39-6A21-FCA2-759D9721ED2A}"/>
              </a:ext>
            </a:extLst>
          </p:cNvPr>
          <p:cNvSpPr txBox="1"/>
          <p:nvPr/>
        </p:nvSpPr>
        <p:spPr>
          <a:xfrm>
            <a:off x="611560" y="1124744"/>
            <a:ext cx="75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latin typeface="UT Sans" panose="00000500000000000000" pitchFamily="2" charset="0"/>
              </a:rPr>
              <a:t>Schema electrică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D64E2-DA7A-9D4B-0A7A-E96B6372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1A832A-241C-4BAA-B0F1-4B22D633A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180" y="2708920"/>
            <a:ext cx="5477639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9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252549-1415-1C11-F16A-3BCAD52497FE}"/>
              </a:ext>
            </a:extLst>
          </p:cNvPr>
          <p:cNvSpPr txBox="1"/>
          <p:nvPr/>
        </p:nvSpPr>
        <p:spPr>
          <a:xfrm>
            <a:off x="611560" y="1124744"/>
            <a:ext cx="7578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latin typeface="UT Sans" panose="00000500000000000000" pitchFamily="2" charset="0"/>
              </a:rPr>
              <a:t>Modul de conectare a componentelor în STMCubeIDE</a:t>
            </a:r>
          </a:p>
          <a:p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6537E-43CE-B84B-C844-C584431E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186AE1-CFBB-4B8A-AFA1-EF7C1AEDE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183" y="2315568"/>
            <a:ext cx="5792008" cy="402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9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594E3F-DDF4-4DCC-51DE-9E3CA9792525}"/>
              </a:ext>
            </a:extLst>
          </p:cNvPr>
          <p:cNvSpPr txBox="1"/>
          <p:nvPr/>
        </p:nvSpPr>
        <p:spPr>
          <a:xfrm>
            <a:off x="397163" y="1124744"/>
            <a:ext cx="77945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o-RO" sz="2000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pt-BR" sz="2000" b="1" dirty="0">
                <a:latin typeface="UT Sans" pitchFamily="50" charset="0"/>
              </a:rPr>
              <a:t>PA0</a:t>
            </a:r>
            <a:r>
              <a:rPr lang="pt-BR" sz="2000" dirty="0">
                <a:latin typeface="UT Sans" pitchFamily="50" charset="0"/>
              </a:rPr>
              <a:t> este utilizat pentru senzorul de gaz MQ-135</a:t>
            </a:r>
            <a:r>
              <a:rPr lang="ro-RO" sz="2000" dirty="0">
                <a:latin typeface="UT Sans" pitchFamily="50" charset="0"/>
              </a:rPr>
              <a:t>.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ro-RO" sz="2000" b="1" dirty="0">
                <a:latin typeface="UT Sans" pitchFamily="50" charset="0"/>
              </a:rPr>
              <a:t>PC7</a:t>
            </a:r>
            <a:r>
              <a:rPr lang="ro-RO" sz="2000" dirty="0">
                <a:latin typeface="UT Sans" pitchFamily="50" charset="0"/>
              </a:rPr>
              <a:t> este folosit pentru senzorul de particule DSM501A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ro-RO" sz="2000" b="1" dirty="0">
                <a:latin typeface="UT Sans" pitchFamily="50" charset="0"/>
              </a:rPr>
              <a:t>PA9</a:t>
            </a:r>
            <a:r>
              <a:rPr lang="ro-RO" sz="2000" dirty="0">
                <a:latin typeface="UT Sans" pitchFamily="50" charset="0"/>
              </a:rPr>
              <a:t> și </a:t>
            </a:r>
            <a:r>
              <a:rPr lang="ro-RO" sz="2000" b="1" dirty="0">
                <a:latin typeface="UT Sans" pitchFamily="50" charset="0"/>
              </a:rPr>
              <a:t>PA10</a:t>
            </a:r>
            <a:r>
              <a:rPr lang="ro-RO" sz="2000" dirty="0">
                <a:latin typeface="UT Sans" pitchFamily="50" charset="0"/>
              </a:rPr>
              <a:t> sunt alocate pentru comunicarea I2C cu afișajul LCD 16x2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ro-RO" sz="2000" b="1" dirty="0">
                <a:latin typeface="UT Sans" pitchFamily="50" charset="0"/>
              </a:rPr>
              <a:t>PA2</a:t>
            </a:r>
            <a:r>
              <a:rPr lang="ro-RO" sz="2000" dirty="0">
                <a:latin typeface="UT Sans" pitchFamily="50" charset="0"/>
              </a:rPr>
              <a:t> și </a:t>
            </a:r>
            <a:r>
              <a:rPr lang="ro-RO" sz="2000" b="1" dirty="0">
                <a:latin typeface="UT Sans" pitchFamily="50" charset="0"/>
              </a:rPr>
              <a:t>PA3</a:t>
            </a:r>
            <a:r>
              <a:rPr lang="ro-RO" sz="2000" dirty="0">
                <a:latin typeface="UT Sans" pitchFamily="50" charset="0"/>
              </a:rPr>
              <a:t> sunt configurate pentru a permite transmiterea datelor de la STM32 cătrePC prin UART.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it-IT" sz="2000" b="1" dirty="0">
                <a:latin typeface="UT Sans" pitchFamily="50" charset="0"/>
              </a:rPr>
              <a:t>A6</a:t>
            </a:r>
            <a:r>
              <a:rPr lang="it-IT" sz="2000" dirty="0">
                <a:latin typeface="UT Sans" pitchFamily="50" charset="0"/>
              </a:rPr>
              <a:t> și </a:t>
            </a:r>
            <a:r>
              <a:rPr lang="it-IT" sz="2000" b="1" dirty="0">
                <a:latin typeface="UT Sans" pitchFamily="50" charset="0"/>
              </a:rPr>
              <a:t>PA7</a:t>
            </a:r>
            <a:r>
              <a:rPr lang="it-IT" sz="2000" dirty="0">
                <a:latin typeface="UT Sans" pitchFamily="50" charset="0"/>
              </a:rPr>
              <a:t> sunt alocate pentru comunicarea I2C cu senzorul BMP280. </a:t>
            </a:r>
            <a:endParaRPr lang="ro-RO" sz="2000" dirty="0">
              <a:latin typeface="UT Sans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B39B9-A6B4-C62E-CEC3-B46998F9715A}"/>
              </a:ext>
            </a:extLst>
          </p:cNvPr>
          <p:cNvSpPr txBox="1"/>
          <p:nvPr/>
        </p:nvSpPr>
        <p:spPr>
          <a:xfrm>
            <a:off x="611560" y="1124744"/>
            <a:ext cx="75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latin typeface="UT Sans" panose="00000500000000000000" pitchFamily="2" charset="0"/>
              </a:rPr>
              <a:t>Alegerea pinilor și testarea în PuTTY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B3937-5685-ECBF-5758-4334DA26E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10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3BA0F7-4141-4CFE-85B0-697DE84D2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3931317"/>
            <a:ext cx="3492388" cy="133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88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B3937-5685-ECBF-5758-4334DA26E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54D76F-AFB3-4F87-B790-7E2C662D9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76" y="1016732"/>
            <a:ext cx="3848637" cy="30963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2C6538-25A1-47BC-A9F4-8B406F36B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563" y="2996246"/>
            <a:ext cx="4024406" cy="331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61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432A1D-87FC-6425-EE04-277922B44F25}"/>
              </a:ext>
            </a:extLst>
          </p:cNvPr>
          <p:cNvSpPr txBox="1"/>
          <p:nvPr/>
        </p:nvSpPr>
        <p:spPr>
          <a:xfrm>
            <a:off x="593837" y="1639828"/>
            <a:ext cx="806487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o-RO" sz="2000" dirty="0">
              <a:latin typeface="UT Symbols" charset="0"/>
              <a:ea typeface="UT Symbols" charset="0"/>
              <a:cs typeface="UT Symbols" charset="0"/>
            </a:endParaRPr>
          </a:p>
          <a:p>
            <a:pPr marL="342900" indent="-342900" algn="just">
              <a:buBlip>
                <a:blip r:embed="rId3"/>
              </a:buBlip>
            </a:pPr>
            <a:r>
              <a:rPr lang="ro-RO" sz="2000" dirty="0">
                <a:latin typeface="UT Sans" pitchFamily="50" charset="0"/>
              </a:rPr>
              <a:t>Proiectul realizat a avut ca scop dezvoltarea unui sistem de monitorizare a calității aerului ambiental, capabil să măsoare și să afișeze parametri relevanți precum temperatura,presiunea atmosferică, concentrația particulelor de praf și nivelul gazelor poluante.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ro-RO" sz="2000" dirty="0">
                <a:latin typeface="UT Sans" pitchFamily="50" charset="0"/>
              </a:rPr>
              <a:t>Din punct de vedere al dificultății de implementare, proiectul a implicat un nivel mediu decomplexitate, necesitând atât cunoștințe de programare embedded, cât și înțelegerea prin-cipiilor de funcționare ale senzorilor și ale interfețelor de comunicație.</a:t>
            </a:r>
          </a:p>
          <a:p>
            <a:pPr marL="342900" indent="-342900" algn="just">
              <a:buBlip>
                <a:blip r:embed="rId3"/>
              </a:buBlip>
            </a:pPr>
            <a:r>
              <a:rPr lang="ro-RO" sz="2000" dirty="0">
                <a:latin typeface="UT Sans" pitchFamily="50" charset="0"/>
              </a:rPr>
              <a:t>O altă dificultate a constat în interpretarea semnalelor furnizate de senzorii de particuleși de gaze, fiind necesară stabilirea unor praguri empirice</a:t>
            </a:r>
          </a:p>
          <a:p>
            <a:pPr algn="just"/>
            <a:endParaRPr lang="ro-RO" sz="2000" dirty="0">
              <a:latin typeface="UT Sans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C0E99-ECD1-2026-39F7-78E0AD73B5C3}"/>
              </a:ext>
            </a:extLst>
          </p:cNvPr>
          <p:cNvSpPr txBox="1"/>
          <p:nvPr/>
        </p:nvSpPr>
        <p:spPr>
          <a:xfrm>
            <a:off x="611560" y="1124744"/>
            <a:ext cx="7578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latin typeface="UT Sans" panose="00000500000000000000" pitchFamily="2" charset="0"/>
              </a:rPr>
              <a:t>Concluzii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615E5E-0135-D4E9-A7E4-93F8BE68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79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F80428-078E-C914-8C7F-D280973BB8D3}"/>
              </a:ext>
            </a:extLst>
          </p:cNvPr>
          <p:cNvSpPr txBox="1"/>
          <p:nvPr/>
        </p:nvSpPr>
        <p:spPr>
          <a:xfrm>
            <a:off x="0" y="313661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dirty="0">
                <a:latin typeface="UT Sans" panose="00000500000000000000" pitchFamily="2" charset="0"/>
              </a:rPr>
              <a:t>Vă </a:t>
            </a:r>
            <a:r>
              <a:rPr lang="en-US" sz="3200" dirty="0">
                <a:latin typeface="UT Sans" panose="00000500000000000000" pitchFamily="2" charset="0"/>
              </a:rPr>
              <a:t>m</a:t>
            </a:r>
            <a:r>
              <a:rPr lang="ro-RO" sz="3200" dirty="0" err="1">
                <a:latin typeface="UT Sans" panose="00000500000000000000" pitchFamily="2" charset="0"/>
              </a:rPr>
              <a:t>ulțumesc</a:t>
            </a:r>
            <a:r>
              <a:rPr lang="ro-RO" sz="3200" dirty="0">
                <a:latin typeface="UT Sans" panose="00000500000000000000" pitchFamily="2" charset="0"/>
              </a:rPr>
              <a:t>!</a:t>
            </a:r>
            <a:endParaRPr lang="en-US" sz="3200" dirty="0">
              <a:latin typeface="UT Sans" panose="000005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5B7FD-50F3-9D30-536C-49CE046C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9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</TotalTime>
  <Words>458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UT Sans</vt:lpstr>
      <vt:lpstr>UT Sans Bold</vt:lpstr>
      <vt:lpstr>UT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Georgiana</cp:lastModifiedBy>
  <cp:revision>48</cp:revision>
  <dcterms:created xsi:type="dcterms:W3CDTF">2017-10-19T09:49:50Z</dcterms:created>
  <dcterms:modified xsi:type="dcterms:W3CDTF">2025-12-17T12:59:46Z</dcterms:modified>
</cp:coreProperties>
</file>